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8FC"/>
    <a:srgbClr val="F4F8FF"/>
    <a:srgbClr val="D9E7FF"/>
    <a:srgbClr val="1E3A8A"/>
    <a:srgbClr val="6B7280"/>
    <a:srgbClr val="2563EB"/>
    <a:srgbClr val="4B5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3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44F32-201F-434A-9EF3-E7DB98F2C143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FEDCD-7204-4721-80E3-6A1D53DD11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652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FEDCD-7204-4721-80E3-6A1D53DD115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599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FEDCD-7204-4721-80E3-6A1D53DD115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569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8481-6819-BF30-2D0E-C4C80E2A7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9D56F-6758-375C-33B4-05ADBCC55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DFA4E-56DA-BE50-595D-A5D97761A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76C3F-9DD5-4DB2-AE95-110F5D1DCE5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2E478-1BC3-CA6B-8A93-6B6C1ADE9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B4898-A232-C49F-24BA-1B11401C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EBBD-B92C-4480-8E4C-F75D23A36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72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6E850-F192-0DB6-5687-16F3CD860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A62F5-8624-12F7-0D8D-100E7A91D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7AFCF-E449-B210-DB2F-8452FA8D6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76C3F-9DD5-4DB2-AE95-110F5D1DCE5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81078-D1E4-D4C6-B0C0-088FCB6E6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0A8AA-C034-F7CA-9E2C-E6605036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EBBD-B92C-4480-8E4C-F75D23A36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975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BBC7-A133-8D3A-D393-39551ECD5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508F0-447E-4C68-0954-8F3C1F69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0EA85-E07F-4D6B-FFB5-E8767884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76C3F-9DD5-4DB2-AE95-110F5D1DCE5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3E83A-32F2-F179-A152-AA70462A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EDCA6-97DF-6A91-0ED9-E88E8737C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EBBD-B92C-4480-8E4C-F75D23A36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873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9DD16-FA5B-04C8-4F70-03F0FA61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443B3-D6E3-F6F0-06D7-67591061B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08A8D-E0B4-9DB0-BFEC-0EB1AD769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10CE1-56D7-6824-52F6-7CFCF44D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76C3F-9DD5-4DB2-AE95-110F5D1DCE5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1C102-345F-7342-093C-759F3A46F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9F7FB-7398-1872-F56F-C7BAF6CD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EBBD-B92C-4480-8E4C-F75D23A36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332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93662-5135-86CB-94F1-E604B3B5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026DF-9A26-A873-D6D2-41CEBB00B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B0895-2BAA-F826-175D-1462F48CB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2708FE-E64E-0D47-0890-0EC8B3CF8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1459A5-3E58-0516-D5CC-3996F1BDF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945171-7198-08B0-4DE3-42209F295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76C3F-9DD5-4DB2-AE95-110F5D1DCE5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A676C9-1D3F-5F6C-E0E7-083760233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099986-90E9-5552-CC7F-D40F9579F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EBBD-B92C-4480-8E4C-F75D23A36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797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C1ED7-414A-D7AA-5B4D-BA8909485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E0AF0-61F4-EDDE-AE30-35D3B8451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76C3F-9DD5-4DB2-AE95-110F5D1DCE5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A45FB-16DE-0044-40BA-0880E3F7B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5A180-5D56-C5C3-CDA1-2E32C44C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EBBD-B92C-4480-8E4C-F75D23A36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87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710426-B129-6D84-45AF-8BB0D3E66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76C3F-9DD5-4DB2-AE95-110F5D1DCE5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C516C8-4548-49F2-4C88-326C60318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7045D-6A12-3493-CED1-C0E30589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EBBD-B92C-4480-8E4C-F75D23A36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432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63D05-848A-3305-A4BE-DEDF8DE9A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B3C15-FFD2-A79E-389F-0FAFC9112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0530D-9DE8-1748-DE9A-65396D4E2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F2D17-A021-3EDB-7659-5E061930A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76C3F-9DD5-4DB2-AE95-110F5D1DCE5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0A28E-79BA-B4C3-1D53-C897C4AB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7413B-AEBD-C309-FCCB-70D402A5C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EBBD-B92C-4480-8E4C-F75D23A36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354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0ECE7-898B-7CF4-1C48-2AD72ADD7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1B2ECE-96A8-107B-CB20-C4641C2534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5A09B-28BF-B999-5785-F8C121299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4E715-34A1-6E21-B4C2-F0D0C4658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76C3F-9DD5-4DB2-AE95-110F5D1DCE5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C0795-2DDD-5258-D09E-4DE9D306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85FE4-A8CC-8B74-F1E7-2E905E489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EBBD-B92C-4480-8E4C-F75D23A36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39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D0A6D-038B-01A7-2054-C3FDC4B04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52450-B3DF-D1B2-DA91-3A5CC2FB4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37AC7-FB55-217B-218D-998160598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76C3F-9DD5-4DB2-AE95-110F5D1DCE5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11FE8-F955-5057-4107-15C39476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A779B-E571-3C52-7D1C-8971F98E3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EBBD-B92C-4480-8E4C-F75D23A36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89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8F8199-B633-C969-5F0B-E14C93884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2EB0A-6318-EBEE-7D27-9A80A39BE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F595A-CF39-B81D-C266-8C75C2A9F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76C3F-9DD5-4DB2-AE95-110F5D1DCE5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47041-21A8-07EF-105B-CB1A1B45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72556-F6C3-27B1-EB40-25E71A69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EBBD-B92C-4480-8E4C-F75D23A36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435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8F476-5932-FCF1-BD3A-306BAF922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82E76-0F45-D22E-B731-6A8D4F557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B8FBD-B026-A5C2-4924-FBF61DCE9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76C3F-9DD5-4DB2-AE95-110F5D1DCE5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4EAA7-163C-3730-4420-D6BF4D6C0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C30F7-DEB9-44FE-C064-5B19B3E45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9EBBD-B92C-4480-8E4C-F75D23A36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080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2C6FB-7405-0BA2-4119-E258B1CE9A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7C990-363C-FCCF-B98D-95D7FA8E0D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333246-1F40-32B2-53DE-7F42C48F4B25}"/>
              </a:ext>
            </a:extLst>
          </p:cNvPr>
          <p:cNvSpPr/>
          <p:nvPr/>
        </p:nvSpPr>
        <p:spPr>
          <a:xfrm>
            <a:off x="0" y="9000"/>
            <a:ext cx="12192000" cy="6858000"/>
          </a:xfrm>
          <a:prstGeom prst="rect">
            <a:avLst/>
          </a:prstGeom>
          <a:solidFill>
            <a:srgbClr val="F4F8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884145-4362-41E2-6B75-4A7F3F1EDCAF}"/>
              </a:ext>
            </a:extLst>
          </p:cNvPr>
          <p:cNvSpPr txBox="1"/>
          <p:nvPr/>
        </p:nvSpPr>
        <p:spPr>
          <a:xfrm>
            <a:off x="2187775" y="37962"/>
            <a:ext cx="92310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rgbClr val="1E3A8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Global Superstore Sales Performance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AAA16-6ECA-B91B-4E40-A1328B62E99E}"/>
              </a:ext>
            </a:extLst>
          </p:cNvPr>
          <p:cNvSpPr txBox="1"/>
          <p:nvPr/>
        </p:nvSpPr>
        <p:spPr>
          <a:xfrm>
            <a:off x="2959768" y="803292"/>
            <a:ext cx="5933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4B556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Sales Performance &amp; Business 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C14A30-B8E2-E5F7-CF94-5826A5A433D8}"/>
              </a:ext>
            </a:extLst>
          </p:cNvPr>
          <p:cNvSpPr txBox="1"/>
          <p:nvPr/>
        </p:nvSpPr>
        <p:spPr>
          <a:xfrm>
            <a:off x="3047335" y="1491694"/>
            <a:ext cx="8115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2563EB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Tools Used           SQL             Excel                Power BI             DAX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FADE84-DA54-2E3B-942D-97542D71C5A2}"/>
              </a:ext>
            </a:extLst>
          </p:cNvPr>
          <p:cNvSpPr txBox="1"/>
          <p:nvPr/>
        </p:nvSpPr>
        <p:spPr>
          <a:xfrm>
            <a:off x="3809358" y="2625715"/>
            <a:ext cx="3567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Prepared By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77980D-4234-B569-D6BF-99B177165F2F}"/>
              </a:ext>
            </a:extLst>
          </p:cNvPr>
          <p:cNvSpPr txBox="1"/>
          <p:nvPr/>
        </p:nvSpPr>
        <p:spPr>
          <a:xfrm>
            <a:off x="4085691" y="3275638"/>
            <a:ext cx="3014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1E3A8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Suriya 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1BCF15-C6CE-69DC-E60F-6E095410F950}"/>
              </a:ext>
            </a:extLst>
          </p:cNvPr>
          <p:cNvSpPr txBox="1"/>
          <p:nvPr/>
        </p:nvSpPr>
        <p:spPr>
          <a:xfrm>
            <a:off x="4137923" y="4373552"/>
            <a:ext cx="2910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6B728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JULY 2026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A23233-22A1-2A6C-0CFA-2348BAB00599}"/>
              </a:ext>
            </a:extLst>
          </p:cNvPr>
          <p:cNvCxnSpPr>
            <a:cxnSpLocks/>
          </p:cNvCxnSpPr>
          <p:nvPr/>
        </p:nvCxnSpPr>
        <p:spPr>
          <a:xfrm>
            <a:off x="1115845" y="0"/>
            <a:ext cx="0" cy="6876000"/>
          </a:xfrm>
          <a:prstGeom prst="line">
            <a:avLst/>
          </a:prstGeom>
          <a:ln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B15FC-66BB-355E-336F-07CF7B4D7985}"/>
              </a:ext>
            </a:extLst>
          </p:cNvPr>
          <p:cNvCxnSpPr/>
          <p:nvPr/>
        </p:nvCxnSpPr>
        <p:spPr>
          <a:xfrm>
            <a:off x="4477576" y="1521527"/>
            <a:ext cx="0" cy="468000"/>
          </a:xfrm>
          <a:prstGeom prst="line">
            <a:avLst/>
          </a:prstGeom>
          <a:ln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C0224BC-0487-C06B-C079-FC1A12652178}"/>
              </a:ext>
            </a:extLst>
          </p:cNvPr>
          <p:cNvCxnSpPr>
            <a:cxnSpLocks/>
          </p:cNvCxnSpPr>
          <p:nvPr/>
        </p:nvCxnSpPr>
        <p:spPr>
          <a:xfrm>
            <a:off x="5926599" y="1521527"/>
            <a:ext cx="0" cy="468000"/>
          </a:xfrm>
          <a:prstGeom prst="line">
            <a:avLst/>
          </a:prstGeom>
          <a:ln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870849-C6A2-E605-0603-088BBBDBCE88}"/>
              </a:ext>
            </a:extLst>
          </p:cNvPr>
          <p:cNvCxnSpPr/>
          <p:nvPr/>
        </p:nvCxnSpPr>
        <p:spPr>
          <a:xfrm>
            <a:off x="7375622" y="1521526"/>
            <a:ext cx="0" cy="468000"/>
          </a:xfrm>
          <a:prstGeom prst="line">
            <a:avLst/>
          </a:prstGeom>
          <a:ln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BA38B64-172D-BCA3-5AD7-7F0A980CAE4F}"/>
              </a:ext>
            </a:extLst>
          </p:cNvPr>
          <p:cNvCxnSpPr>
            <a:cxnSpLocks/>
          </p:cNvCxnSpPr>
          <p:nvPr/>
        </p:nvCxnSpPr>
        <p:spPr>
          <a:xfrm>
            <a:off x="1106155" y="2303858"/>
            <a:ext cx="11052000" cy="0"/>
          </a:xfrm>
          <a:prstGeom prst="line">
            <a:avLst/>
          </a:prstGeom>
          <a:ln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74EEBD4-3A0E-4135-6E6B-B861943413E2}"/>
              </a:ext>
            </a:extLst>
          </p:cNvPr>
          <p:cNvCxnSpPr/>
          <p:nvPr/>
        </p:nvCxnSpPr>
        <p:spPr>
          <a:xfrm>
            <a:off x="1115266" y="5257800"/>
            <a:ext cx="11088000" cy="0"/>
          </a:xfrm>
          <a:prstGeom prst="line">
            <a:avLst/>
          </a:prstGeom>
          <a:ln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E750A295-5B95-B6F4-7445-66518E23D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14" y="-151676"/>
            <a:ext cx="2868249" cy="1577992"/>
          </a:xfrm>
          <a:prstGeom prst="rect">
            <a:avLst/>
          </a:prstGeom>
        </p:spPr>
      </p:pic>
      <p:pic>
        <p:nvPicPr>
          <p:cNvPr id="28" name="Picture 27" descr="Power BI Icon SVG Vector &amp; PNG Free Download | UXWing">
            <a:extLst>
              <a:ext uri="{FF2B5EF4-FFF2-40B4-BE49-F238E27FC236}">
                <a16:creationId xmlns:a16="http://schemas.microsoft.com/office/drawing/2014/main" id="{B17A09B0-AD77-082C-A80C-73D7FC286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716" y="1521527"/>
            <a:ext cx="656752" cy="35490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F43AB17-05EB-E56C-17E6-084A4E6590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92" y="1458000"/>
            <a:ext cx="512977" cy="53152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86DB6C7-09F9-ACF2-67EB-2A0BB30BE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553" y="1479582"/>
            <a:ext cx="527362" cy="468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4B40421-2866-0C7B-03D7-578B334D833B}"/>
              </a:ext>
            </a:extLst>
          </p:cNvPr>
          <p:cNvSpPr txBox="1"/>
          <p:nvPr/>
        </p:nvSpPr>
        <p:spPr>
          <a:xfrm>
            <a:off x="4222290" y="3746263"/>
            <a:ext cx="2873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6B728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BCom (Commerce)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E64F476-48B1-5329-366E-E8BE476378C6}"/>
              </a:ext>
            </a:extLst>
          </p:cNvPr>
          <p:cNvCxnSpPr/>
          <p:nvPr/>
        </p:nvCxnSpPr>
        <p:spPr>
          <a:xfrm>
            <a:off x="9390276" y="1479582"/>
            <a:ext cx="0" cy="468000"/>
          </a:xfrm>
          <a:prstGeom prst="line">
            <a:avLst/>
          </a:prstGeom>
          <a:ln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Settings Icon Image Free PNG Transparent Background, Free Download #14960 -  FreeIconsPNG">
            <a:extLst>
              <a:ext uri="{FF2B5EF4-FFF2-40B4-BE49-F238E27FC236}">
                <a16:creationId xmlns:a16="http://schemas.microsoft.com/office/drawing/2014/main" id="{A2E81022-B2D0-1F07-44F5-25AF405E52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7607" y="1510114"/>
            <a:ext cx="418798" cy="41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32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CF489-B74B-1703-D1B1-CE83EB69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3DEA83-8ABB-5FCA-EA55-A750FA5E49DA}"/>
              </a:ext>
            </a:extLst>
          </p:cNvPr>
          <p:cNvSpPr/>
          <p:nvPr/>
        </p:nvSpPr>
        <p:spPr>
          <a:xfrm>
            <a:off x="0" y="4896"/>
            <a:ext cx="12192000" cy="6858000"/>
          </a:xfrm>
          <a:prstGeom prst="rect">
            <a:avLst/>
          </a:prstGeom>
          <a:solidFill>
            <a:srgbClr val="F4F8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88143-C6E1-CA1C-C834-D3EBA5118E14}"/>
              </a:ext>
            </a:extLst>
          </p:cNvPr>
          <p:cNvSpPr txBox="1"/>
          <p:nvPr/>
        </p:nvSpPr>
        <p:spPr>
          <a:xfrm>
            <a:off x="2817541" y="-35117"/>
            <a:ext cx="60216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1E3A8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Project Overview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EE37F-E276-E934-83BF-F991752301E3}"/>
              </a:ext>
            </a:extLst>
          </p:cNvPr>
          <p:cNvSpPr txBox="1"/>
          <p:nvPr/>
        </p:nvSpPr>
        <p:spPr>
          <a:xfrm>
            <a:off x="267628" y="613317"/>
            <a:ext cx="667958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1E3A8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Project Objective</a:t>
            </a:r>
            <a:r>
              <a:rPr lang="en-IN" sz="2000" b="1" u="sng" dirty="0">
                <a:solidFill>
                  <a:srgbClr val="1E3A8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IN" sz="20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Analyse Global Superstore sales data to evaluate overall business performance.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Identify sales trends, customer behaviour, product performance, and regional performance.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Calculate key business KPIs such as Sales, Profit, Orders, Quantity, and Profit Margin.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Build an interactive Power BI dashboard using SQL, Excel, and DAX for data-driven decision-making.</a:t>
            </a:r>
          </a:p>
          <a:p>
            <a:endParaRPr lang="en-IN" sz="20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D92740-D325-962B-1D36-A93E39E461A3}"/>
              </a:ext>
            </a:extLst>
          </p:cNvPr>
          <p:cNvSpPr txBox="1"/>
          <p:nvPr/>
        </p:nvSpPr>
        <p:spPr>
          <a:xfrm>
            <a:off x="7103328" y="613317"/>
            <a:ext cx="482104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1E3A8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Project Workflow </a:t>
            </a:r>
          </a:p>
          <a:p>
            <a:endParaRPr lang="en-IN" dirty="0"/>
          </a:p>
          <a:p>
            <a:r>
              <a:rPr lang="en-IN" sz="1400" b="1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project follows a structured process from data preparation to business insights.</a:t>
            </a:r>
          </a:p>
          <a:p>
            <a:pPr algn="ctr"/>
            <a:endParaRPr lang="en-IN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Dataset</a:t>
            </a: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↓</a:t>
            </a:r>
            <a:endParaRPr lang="en-IN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 cleaning </a:t>
            </a: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↓</a:t>
            </a:r>
            <a:endParaRPr lang="en-IN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SQL Analysis</a:t>
            </a: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↓</a:t>
            </a:r>
            <a:endParaRPr lang="en-IN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Power BI Dashboard</a:t>
            </a:r>
          </a:p>
          <a:p>
            <a:pPr algn="ctr"/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↓</a:t>
            </a:r>
            <a:endParaRPr lang="en-IN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insight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68ADA-2582-7EAB-BCC7-9956A3FE8B97}"/>
              </a:ext>
            </a:extLst>
          </p:cNvPr>
          <p:cNvSpPr txBox="1"/>
          <p:nvPr/>
        </p:nvSpPr>
        <p:spPr>
          <a:xfrm>
            <a:off x="276124" y="5044343"/>
            <a:ext cx="9010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Tools Used           SQL             Excel             Power BI             DAX</a:t>
            </a:r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AAD674-7488-0F73-9E5E-912B61656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719" y="4957872"/>
            <a:ext cx="527362" cy="468000"/>
          </a:xfrm>
          <a:prstGeom prst="rect">
            <a:avLst/>
          </a:prstGeom>
        </p:spPr>
      </p:pic>
      <p:pic>
        <p:nvPicPr>
          <p:cNvPr id="18" name="Picture 17" descr="Power BI Icon SVG Vector &amp; PNG Free Download | UXWing">
            <a:extLst>
              <a:ext uri="{FF2B5EF4-FFF2-40B4-BE49-F238E27FC236}">
                <a16:creationId xmlns:a16="http://schemas.microsoft.com/office/drawing/2014/main" id="{E94FCC7C-76EA-14E4-B3C9-3ACAF733E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486" y="4997212"/>
            <a:ext cx="656752" cy="3549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DC046F4-E8CE-AA63-9396-7D2CC056AC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785" y="4926109"/>
            <a:ext cx="512977" cy="531526"/>
          </a:xfrm>
          <a:prstGeom prst="rect">
            <a:avLst/>
          </a:prstGeom>
        </p:spPr>
      </p:pic>
      <p:pic>
        <p:nvPicPr>
          <p:cNvPr id="22" name="Picture 21" descr="Settings Icon Image Free PNG Transparent Background, Free Download #14960 -  FreeIconsPNG">
            <a:extLst>
              <a:ext uri="{FF2B5EF4-FFF2-40B4-BE49-F238E27FC236}">
                <a16:creationId xmlns:a16="http://schemas.microsoft.com/office/drawing/2014/main" id="{2ACB5F73-173C-17DE-863B-748488751E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8423" y="5005623"/>
            <a:ext cx="418798" cy="418798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C107615-08DF-83A0-A029-5228DA5B9677}"/>
              </a:ext>
            </a:extLst>
          </p:cNvPr>
          <p:cNvCxnSpPr>
            <a:cxnSpLocks/>
          </p:cNvCxnSpPr>
          <p:nvPr/>
        </p:nvCxnSpPr>
        <p:spPr>
          <a:xfrm>
            <a:off x="391886" y="1052652"/>
            <a:ext cx="208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2260314-BBAE-E345-3736-008AF17B01E3}"/>
              </a:ext>
            </a:extLst>
          </p:cNvPr>
          <p:cNvCxnSpPr/>
          <p:nvPr/>
        </p:nvCxnSpPr>
        <p:spPr>
          <a:xfrm>
            <a:off x="7103328" y="1072748"/>
            <a:ext cx="208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24586C39-5C7B-4ECC-1EAD-0AA84D3D33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2784" y="1899700"/>
            <a:ext cx="338713" cy="481152"/>
          </a:xfrm>
          <a:prstGeom prst="rect">
            <a:avLst/>
          </a:prstGeom>
        </p:spPr>
      </p:pic>
      <p:pic>
        <p:nvPicPr>
          <p:cNvPr id="32" name="Picture 31" descr="File:Power Clean Ico.png - Wikimedia Commons">
            <a:extLst>
              <a:ext uri="{FF2B5EF4-FFF2-40B4-BE49-F238E27FC236}">
                <a16:creationId xmlns:a16="http://schemas.microsoft.com/office/drawing/2014/main" id="{DD9DC8F3-D0C3-C98D-B63B-D500FF2429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6234" y="2589864"/>
            <a:ext cx="356437" cy="35643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A5FBEA5-448C-B743-2BC2-BEF04D32D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512" y="3187539"/>
            <a:ext cx="433038" cy="356437"/>
          </a:xfrm>
          <a:prstGeom prst="rect">
            <a:avLst/>
          </a:prstGeom>
        </p:spPr>
      </p:pic>
      <p:pic>
        <p:nvPicPr>
          <p:cNvPr id="36" name="Picture 35" descr="Dashboard - Free seo and web icons">
            <a:extLst>
              <a:ext uri="{FF2B5EF4-FFF2-40B4-BE49-F238E27FC236}">
                <a16:creationId xmlns:a16="http://schemas.microsoft.com/office/drawing/2014/main" id="{AA7A925B-9DB2-3173-62CA-D9A507F756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8876" y="3821860"/>
            <a:ext cx="358452" cy="35845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B2AE126-FE48-E8BC-3C62-84DD5ECEE7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4286" y="4290381"/>
            <a:ext cx="598385" cy="476041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F80D454-27FD-D71B-C9AC-52D31E18DFFA}"/>
              </a:ext>
            </a:extLst>
          </p:cNvPr>
          <p:cNvCxnSpPr/>
          <p:nvPr/>
        </p:nvCxnSpPr>
        <p:spPr>
          <a:xfrm>
            <a:off x="1617718" y="4957872"/>
            <a:ext cx="0" cy="468000"/>
          </a:xfrm>
          <a:prstGeom prst="line">
            <a:avLst/>
          </a:prstGeom>
          <a:ln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071920E-3632-EDA8-58BA-E55D2D23B68E}"/>
              </a:ext>
            </a:extLst>
          </p:cNvPr>
          <p:cNvCxnSpPr/>
          <p:nvPr/>
        </p:nvCxnSpPr>
        <p:spPr>
          <a:xfrm>
            <a:off x="2764421" y="4957872"/>
            <a:ext cx="0" cy="468000"/>
          </a:xfrm>
          <a:prstGeom prst="line">
            <a:avLst/>
          </a:prstGeom>
          <a:ln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5EE3692-A3CF-939F-F39D-1E28A53F7AAD}"/>
              </a:ext>
            </a:extLst>
          </p:cNvPr>
          <p:cNvCxnSpPr/>
          <p:nvPr/>
        </p:nvCxnSpPr>
        <p:spPr>
          <a:xfrm>
            <a:off x="4052284" y="4957872"/>
            <a:ext cx="0" cy="468000"/>
          </a:xfrm>
          <a:prstGeom prst="line">
            <a:avLst/>
          </a:prstGeom>
          <a:ln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A2111B2-C874-0745-9BE1-55055D6CFB68}"/>
              </a:ext>
            </a:extLst>
          </p:cNvPr>
          <p:cNvCxnSpPr/>
          <p:nvPr/>
        </p:nvCxnSpPr>
        <p:spPr>
          <a:xfrm>
            <a:off x="5802698" y="4956421"/>
            <a:ext cx="0" cy="468000"/>
          </a:xfrm>
          <a:prstGeom prst="line">
            <a:avLst/>
          </a:prstGeom>
          <a:ln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874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2893A4-A131-E172-65CD-A8312B2112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BD66F-0A2B-0182-2994-64647761910A}"/>
              </a:ext>
            </a:extLst>
          </p:cNvPr>
          <p:cNvSpPr txBox="1"/>
          <p:nvPr/>
        </p:nvSpPr>
        <p:spPr>
          <a:xfrm>
            <a:off x="2872409" y="26289"/>
            <a:ext cx="4820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Dataset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ACD851-48F4-00C6-CE6A-884D15C744B5}"/>
              </a:ext>
            </a:extLst>
          </p:cNvPr>
          <p:cNvSpPr txBox="1"/>
          <p:nvPr/>
        </p:nvSpPr>
        <p:spPr>
          <a:xfrm>
            <a:off x="1267526" y="633667"/>
            <a:ext cx="2924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Dataset Information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4DF9D00-2CD6-1DFE-BB0A-4BD6E0C6A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737661"/>
              </p:ext>
            </p:extLst>
          </p:nvPr>
        </p:nvGraphicFramePr>
        <p:xfrm>
          <a:off x="228048" y="1079811"/>
          <a:ext cx="5054600" cy="432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152">
                  <a:extLst>
                    <a:ext uri="{9D8B030D-6E8A-4147-A177-3AD203B41FA5}">
                      <a16:colId xmlns:a16="http://schemas.microsoft.com/office/drawing/2014/main" val="1231704774"/>
                    </a:ext>
                  </a:extLst>
                </a:gridCol>
                <a:gridCol w="2539448">
                  <a:extLst>
                    <a:ext uri="{9D8B030D-6E8A-4147-A177-3AD203B41FA5}">
                      <a16:colId xmlns:a16="http://schemas.microsoft.com/office/drawing/2014/main" val="1586932066"/>
                    </a:ext>
                  </a:extLst>
                </a:gridCol>
              </a:tblGrid>
              <a:tr h="540263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Fields</a:t>
                      </a:r>
                      <a:r>
                        <a:rPr lang="en-IN" sz="2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Value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79994"/>
                  </a:ext>
                </a:extLst>
              </a:tr>
              <a:tr h="540263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Dataset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Global Superstore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614729"/>
                  </a:ext>
                </a:extLst>
              </a:tr>
              <a:tr h="540263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Source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Kaggle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24523"/>
                  </a:ext>
                </a:extLst>
              </a:tr>
              <a:tr h="540263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Records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51290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611239"/>
                  </a:ext>
                </a:extLst>
              </a:tr>
              <a:tr h="5402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24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557038"/>
                  </a:ext>
                </a:extLst>
              </a:tr>
              <a:tr h="540263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Time period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2011 to 2014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202084"/>
                  </a:ext>
                </a:extLst>
              </a:tr>
              <a:tr h="5402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Countries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147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857359"/>
                  </a:ext>
                </a:extLst>
              </a:tr>
              <a:tr h="540263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Market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120546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F651EE6-C93A-79A2-72EF-33D840E4C440}"/>
              </a:ext>
            </a:extLst>
          </p:cNvPr>
          <p:cNvSpPr/>
          <p:nvPr/>
        </p:nvSpPr>
        <p:spPr>
          <a:xfrm>
            <a:off x="5928385" y="4403317"/>
            <a:ext cx="5867952" cy="5340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Country ● State ● City ● Region ● Market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711B76C-5FCD-819E-633B-E9BF3E3E6724}"/>
              </a:ext>
            </a:extLst>
          </p:cNvPr>
          <p:cNvSpPr/>
          <p:nvPr/>
        </p:nvSpPr>
        <p:spPr>
          <a:xfrm>
            <a:off x="5928385" y="5511152"/>
            <a:ext cx="5867952" cy="5340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Order ID ● Order Date ● Ship Date ● Ship Mode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5CE64E-B648-0CB2-317D-C084F28B9040}"/>
              </a:ext>
            </a:extLst>
          </p:cNvPr>
          <p:cNvSpPr/>
          <p:nvPr/>
        </p:nvSpPr>
        <p:spPr>
          <a:xfrm>
            <a:off x="5928385" y="3295482"/>
            <a:ext cx="5867952" cy="5340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Sales ● Profit ● Quantity ● Discount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F99EF73-5435-671D-068A-3FFA819753B6}"/>
              </a:ext>
            </a:extLst>
          </p:cNvPr>
          <p:cNvSpPr/>
          <p:nvPr/>
        </p:nvSpPr>
        <p:spPr>
          <a:xfrm>
            <a:off x="5928385" y="2187647"/>
            <a:ext cx="5867952" cy="5340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Product ID ● Product Name ● Category ● Sub Category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B1E6641-B1FD-B5D0-C78B-88CA1C61444E}"/>
              </a:ext>
            </a:extLst>
          </p:cNvPr>
          <p:cNvSpPr/>
          <p:nvPr/>
        </p:nvSpPr>
        <p:spPr>
          <a:xfrm>
            <a:off x="5928385" y="1079812"/>
            <a:ext cx="5867952" cy="5340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ID ● Customer Name ● Segment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69970B-9902-0195-FCC4-8FA9A7952BA0}"/>
              </a:ext>
            </a:extLst>
          </p:cNvPr>
          <p:cNvSpPr txBox="1"/>
          <p:nvPr/>
        </p:nvSpPr>
        <p:spPr>
          <a:xfrm>
            <a:off x="7228674" y="571332"/>
            <a:ext cx="342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Details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4A1BDC-82C6-6229-7F1C-B41B378E2655}"/>
              </a:ext>
            </a:extLst>
          </p:cNvPr>
          <p:cNvSpPr txBox="1"/>
          <p:nvPr/>
        </p:nvSpPr>
        <p:spPr>
          <a:xfrm>
            <a:off x="7199638" y="1658234"/>
            <a:ext cx="342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Product Details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C2129B-8785-3748-62AB-72B2641E0653}"/>
              </a:ext>
            </a:extLst>
          </p:cNvPr>
          <p:cNvSpPr txBox="1"/>
          <p:nvPr/>
        </p:nvSpPr>
        <p:spPr>
          <a:xfrm>
            <a:off x="7228674" y="2809313"/>
            <a:ext cx="342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Sales  Details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AC409E-DF4E-F81D-08CF-396A3715083F}"/>
              </a:ext>
            </a:extLst>
          </p:cNvPr>
          <p:cNvSpPr txBox="1"/>
          <p:nvPr/>
        </p:nvSpPr>
        <p:spPr>
          <a:xfrm>
            <a:off x="7228674" y="3955865"/>
            <a:ext cx="342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Location  Details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76A022-8B8A-C39B-BB85-573D849E5BFF}"/>
              </a:ext>
            </a:extLst>
          </p:cNvPr>
          <p:cNvSpPr txBox="1"/>
          <p:nvPr/>
        </p:nvSpPr>
        <p:spPr>
          <a:xfrm>
            <a:off x="7228674" y="5039604"/>
            <a:ext cx="342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Order  Details </a:t>
            </a:r>
          </a:p>
        </p:txBody>
      </p:sp>
      <p:pic>
        <p:nvPicPr>
          <p:cNvPr id="27" name="Picture 26" descr="Client Branding Logo Free PNG">
            <a:extLst>
              <a:ext uri="{FF2B5EF4-FFF2-40B4-BE49-F238E27FC236}">
                <a16:creationId xmlns:a16="http://schemas.microsoft.com/office/drawing/2014/main" id="{EEDBAAA1-AE05-1631-F475-286008E96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15836" y="601582"/>
            <a:ext cx="754099" cy="400110"/>
          </a:xfrm>
          <a:prstGeom prst="rect">
            <a:avLst/>
          </a:prstGeom>
        </p:spPr>
      </p:pic>
      <p:pic>
        <p:nvPicPr>
          <p:cNvPr id="28" name="Picture 27" descr="Box Logo PNGs for Free Download">
            <a:extLst>
              <a:ext uri="{FF2B5EF4-FFF2-40B4-BE49-F238E27FC236}">
                <a16:creationId xmlns:a16="http://schemas.microsoft.com/office/drawing/2014/main" id="{A2415865-3B1A-BF69-1844-76D90E8E3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825" y="1656144"/>
            <a:ext cx="400110" cy="40011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6FACBAE-3A01-8C7F-EFE9-AA77A0CA9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2885" y="2790750"/>
            <a:ext cx="470718" cy="400110"/>
          </a:xfrm>
          <a:prstGeom prst="rect">
            <a:avLst/>
          </a:prstGeom>
        </p:spPr>
      </p:pic>
      <p:pic>
        <p:nvPicPr>
          <p:cNvPr id="32" name="Picture 31" descr="Google Location Icon PNG Transparent Background, Free Download #4237 -  FreeIconsPNG">
            <a:extLst>
              <a:ext uri="{FF2B5EF4-FFF2-40B4-BE49-F238E27FC236}">
                <a16:creationId xmlns:a16="http://schemas.microsoft.com/office/drawing/2014/main" id="{43BAD99F-5D71-7EB8-0FDB-E8DE86186F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695708" y="3898720"/>
            <a:ext cx="348343" cy="435429"/>
          </a:xfrm>
          <a:prstGeom prst="rect">
            <a:avLst/>
          </a:prstGeom>
        </p:spPr>
      </p:pic>
      <p:pic>
        <p:nvPicPr>
          <p:cNvPr id="33" name="Picture 32" descr="Order Transparent Background PNG">
            <a:extLst>
              <a:ext uri="{FF2B5EF4-FFF2-40B4-BE49-F238E27FC236}">
                <a16:creationId xmlns:a16="http://schemas.microsoft.com/office/drawing/2014/main" id="{4DEB55B7-5EDE-C58D-3646-AB2228774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3493" y="5001801"/>
            <a:ext cx="400110" cy="40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5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8F732B-00FE-0B7D-8162-90B405EA1C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A0F20-FE51-6F24-FFC1-ED8A0D28282E}"/>
              </a:ext>
            </a:extLst>
          </p:cNvPr>
          <p:cNvSpPr txBox="1"/>
          <p:nvPr/>
        </p:nvSpPr>
        <p:spPr>
          <a:xfrm>
            <a:off x="2893925" y="331596"/>
            <a:ext cx="6089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 Cleaning &amp; 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2CDE3-F737-BFF6-D7BE-3BC36E320FAD}"/>
              </a:ext>
            </a:extLst>
          </p:cNvPr>
          <p:cNvSpPr txBox="1"/>
          <p:nvPr/>
        </p:nvSpPr>
        <p:spPr>
          <a:xfrm>
            <a:off x="452176" y="808892"/>
            <a:ext cx="3215472" cy="381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 Cleaning Steps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88A9D1-EA63-6E77-A2AE-A451ECC8861A}"/>
              </a:ext>
            </a:extLst>
          </p:cNvPr>
          <p:cNvSpPr txBox="1"/>
          <p:nvPr/>
        </p:nvSpPr>
        <p:spPr>
          <a:xfrm>
            <a:off x="253581" y="1206361"/>
            <a:ext cx="7717134" cy="2958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✅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Checked for missing or blank values.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✅ Verified that no duplicate records existed</a:t>
            </a:r>
          </a:p>
          <a:p>
            <a:pPr>
              <a:lnSpc>
                <a:spcPct val="150000"/>
              </a:lnSpc>
            </a:pPr>
            <a:r>
              <a:rPr lang="en-IN" dirty="0"/>
              <a:t>✅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Standardized date format.</a:t>
            </a:r>
          </a:p>
          <a:p>
            <a:pPr>
              <a:lnSpc>
                <a:spcPct val="150000"/>
              </a:lnSpc>
            </a:pPr>
            <a:r>
              <a:rPr lang="en-IN" dirty="0"/>
              <a:t>✅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Verified numeric and text data types.</a:t>
            </a:r>
          </a:p>
          <a:p>
            <a:pPr>
              <a:lnSpc>
                <a:spcPct val="150000"/>
              </a:lnSpc>
            </a:pPr>
            <a:r>
              <a:rPr lang="en-IN" dirty="0"/>
              <a:t>✅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Cleaned product names by removing unnecessary special characters.</a:t>
            </a:r>
          </a:p>
          <a:p>
            <a:pPr>
              <a:lnSpc>
                <a:spcPct val="150000"/>
              </a:lnSpc>
            </a:pPr>
            <a:r>
              <a:rPr lang="en-IN" dirty="0"/>
              <a:t>✅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Created calculated fields.</a:t>
            </a:r>
          </a:p>
          <a:p>
            <a:pPr>
              <a:lnSpc>
                <a:spcPct val="150000"/>
              </a:lnSpc>
            </a:pPr>
            <a:r>
              <a:rPr lang="en-IN" dirty="0"/>
              <a:t>✅ 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Prepared the dataset for SQL analysis and Power BI reporting.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94D747-4CA5-CB59-BA64-31CB66EE288A}"/>
              </a:ext>
            </a:extLst>
          </p:cNvPr>
          <p:cNvSpPr txBox="1"/>
          <p:nvPr/>
        </p:nvSpPr>
        <p:spPr>
          <a:xfrm>
            <a:off x="9073663" y="808892"/>
            <a:ext cx="2877178" cy="381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Workflow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C3A40C-07E1-589C-C658-D1D6370563AA}"/>
              </a:ext>
            </a:extLst>
          </p:cNvPr>
          <p:cNvSpPr txBox="1"/>
          <p:nvPr/>
        </p:nvSpPr>
        <p:spPr>
          <a:xfrm>
            <a:off x="8380326" y="1390454"/>
            <a:ext cx="370114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Raw Dataset</a:t>
            </a:r>
          </a:p>
          <a:p>
            <a:pPr algn="ctr"/>
            <a:r>
              <a:rPr lang="en-IN" sz="2000" dirty="0">
                <a:solidFill>
                  <a:srgbClr val="0070C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↓</a:t>
            </a:r>
          </a:p>
          <a:p>
            <a:pPr algn="ctr"/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 Cleaning</a:t>
            </a:r>
          </a:p>
          <a:p>
            <a:pPr algn="ctr"/>
            <a:r>
              <a:rPr lang="en-IN" sz="2000" dirty="0">
                <a:solidFill>
                  <a:srgbClr val="0070C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↓</a:t>
            </a:r>
          </a:p>
          <a:p>
            <a:pPr algn="ctr"/>
            <a:r>
              <a:rPr lang="en-IN" sz="2000" dirty="0"/>
              <a:t>✅ </a:t>
            </a:r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Validated Dataset</a:t>
            </a:r>
          </a:p>
          <a:p>
            <a:pPr algn="ctr"/>
            <a:r>
              <a:rPr lang="en-IN" sz="2000" dirty="0">
                <a:solidFill>
                  <a:srgbClr val="0070C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↓</a:t>
            </a:r>
          </a:p>
          <a:p>
            <a:pPr algn="ctr"/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SQL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968627-81DE-2847-EBAD-700212B60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226" y="1361577"/>
            <a:ext cx="338713" cy="481152"/>
          </a:xfrm>
          <a:prstGeom prst="rect">
            <a:avLst/>
          </a:prstGeom>
        </p:spPr>
      </p:pic>
      <p:pic>
        <p:nvPicPr>
          <p:cNvPr id="14" name="Picture 13" descr="File:Power Clean Ico.png - Wikimedia Commons">
            <a:extLst>
              <a:ext uri="{FF2B5EF4-FFF2-40B4-BE49-F238E27FC236}">
                <a16:creationId xmlns:a16="http://schemas.microsoft.com/office/drawing/2014/main" id="{41D56441-7B27-4A4D-983F-60E26613F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502" y="2054608"/>
            <a:ext cx="356437" cy="3564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783092-40C3-08DB-B66E-54333CF89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283" y="4852739"/>
            <a:ext cx="393633" cy="324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3A27270-0ADC-C57C-B3B2-5E2D5DC8B280}"/>
              </a:ext>
            </a:extLst>
          </p:cNvPr>
          <p:cNvSpPr txBox="1"/>
          <p:nvPr/>
        </p:nvSpPr>
        <p:spPr>
          <a:xfrm>
            <a:off x="452176" y="4828720"/>
            <a:ext cx="7254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Tools Used           SQL             Excel             Power BI</a:t>
            </a:r>
          </a:p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749080F-666E-D8F2-1CD3-2C226741C4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500" y="4841707"/>
            <a:ext cx="464037" cy="404859"/>
          </a:xfrm>
          <a:prstGeom prst="rect">
            <a:avLst/>
          </a:prstGeom>
        </p:spPr>
      </p:pic>
      <p:pic>
        <p:nvPicPr>
          <p:cNvPr id="23" name="Picture 22" descr="Power BI Icon SVG Vector &amp; PNG Free Download | UXWing">
            <a:extLst>
              <a:ext uri="{FF2B5EF4-FFF2-40B4-BE49-F238E27FC236}">
                <a16:creationId xmlns:a16="http://schemas.microsoft.com/office/drawing/2014/main" id="{DD8C3F91-0B7E-0EC1-AA7F-C97C7A63BA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6402" y="4841708"/>
            <a:ext cx="599553" cy="32400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ABCD8A4-0ABC-B73F-EEF1-912C7F6B1E7D}"/>
              </a:ext>
            </a:extLst>
          </p:cNvPr>
          <p:cNvCxnSpPr/>
          <p:nvPr/>
        </p:nvCxnSpPr>
        <p:spPr>
          <a:xfrm>
            <a:off x="1858878" y="4828720"/>
            <a:ext cx="0" cy="468000"/>
          </a:xfrm>
          <a:prstGeom prst="line">
            <a:avLst/>
          </a:prstGeom>
          <a:ln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B949E6F-499F-4B57-B6FC-9D8CEC861CAD}"/>
              </a:ext>
            </a:extLst>
          </p:cNvPr>
          <p:cNvCxnSpPr/>
          <p:nvPr/>
        </p:nvCxnSpPr>
        <p:spPr>
          <a:xfrm>
            <a:off x="2996017" y="4828720"/>
            <a:ext cx="0" cy="468000"/>
          </a:xfrm>
          <a:prstGeom prst="line">
            <a:avLst/>
          </a:prstGeom>
          <a:ln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F88AB84-0896-0907-319C-4556E30882FF}"/>
              </a:ext>
            </a:extLst>
          </p:cNvPr>
          <p:cNvCxnSpPr/>
          <p:nvPr/>
        </p:nvCxnSpPr>
        <p:spPr>
          <a:xfrm>
            <a:off x="4269640" y="4828720"/>
            <a:ext cx="0" cy="468000"/>
          </a:xfrm>
          <a:prstGeom prst="line">
            <a:avLst/>
          </a:prstGeom>
          <a:ln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4F831337-3D56-7D9C-56A1-328312546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3663" y="3233183"/>
            <a:ext cx="433038" cy="35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04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861305-75B4-E017-6A5B-DC870F8061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BF4765-FBB7-58D7-E834-0BC81A1167D7}"/>
              </a:ext>
            </a:extLst>
          </p:cNvPr>
          <p:cNvSpPr txBox="1"/>
          <p:nvPr/>
        </p:nvSpPr>
        <p:spPr>
          <a:xfrm>
            <a:off x="3448259" y="200967"/>
            <a:ext cx="5295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SQL Analysis &amp; Key Findings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838975-F54E-DDE1-F6DC-6FBE9BECE2C8}"/>
              </a:ext>
            </a:extLst>
          </p:cNvPr>
          <p:cNvSpPr txBox="1"/>
          <p:nvPr/>
        </p:nvSpPr>
        <p:spPr>
          <a:xfrm>
            <a:off x="228860" y="846722"/>
            <a:ext cx="3687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Analysis Areas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B73E2C-D993-DB04-09B5-B68AE0F81A40}"/>
              </a:ext>
            </a:extLst>
          </p:cNvPr>
          <p:cNvSpPr txBox="1"/>
          <p:nvPr/>
        </p:nvSpPr>
        <p:spPr>
          <a:xfrm>
            <a:off x="759837" y="1273408"/>
            <a:ext cx="3687745" cy="2343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Sales Performance Analysis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Analysis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Product Performance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Time - Based Analysis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Market &amp; Regional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A5491B-569F-6FAA-CF68-FC234CC5DA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27" y="1344434"/>
            <a:ext cx="470718" cy="342965"/>
          </a:xfrm>
          <a:prstGeom prst="rect">
            <a:avLst/>
          </a:prstGeom>
        </p:spPr>
      </p:pic>
      <p:pic>
        <p:nvPicPr>
          <p:cNvPr id="11" name="Picture 10" descr="Client Branding Logo Free PNG">
            <a:extLst>
              <a:ext uri="{FF2B5EF4-FFF2-40B4-BE49-F238E27FC236}">
                <a16:creationId xmlns:a16="http://schemas.microsoft.com/office/drawing/2014/main" id="{1C1E3099-FD83-4F98-A055-A83184F30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16056" y="1848661"/>
            <a:ext cx="642453" cy="340873"/>
          </a:xfrm>
          <a:prstGeom prst="rect">
            <a:avLst/>
          </a:prstGeom>
        </p:spPr>
      </p:pic>
      <p:pic>
        <p:nvPicPr>
          <p:cNvPr id="13" name="Picture 12" descr="Box Logo PNGs for Free Download">
            <a:extLst>
              <a:ext uri="{FF2B5EF4-FFF2-40B4-BE49-F238E27FC236}">
                <a16:creationId xmlns:a16="http://schemas.microsoft.com/office/drawing/2014/main" id="{783E6604-4A07-5060-F7AA-1183215EEF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28" y="2306726"/>
            <a:ext cx="400110" cy="4001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615377-78FE-76D4-31C7-DE12D5C0AF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190" y="2749628"/>
            <a:ext cx="423972" cy="4239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6790F3-DC59-778B-E127-046EAFDDF2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865" y="3219346"/>
            <a:ext cx="423972" cy="42397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A13381C-E713-5AE8-BAFC-B0BFCC68174D}"/>
              </a:ext>
            </a:extLst>
          </p:cNvPr>
          <p:cNvSpPr txBox="1"/>
          <p:nvPr/>
        </p:nvSpPr>
        <p:spPr>
          <a:xfrm>
            <a:off x="7102162" y="846722"/>
            <a:ext cx="2893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Key KPIs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EA7DADA-B56C-8D13-EC1F-551A68C782CC}"/>
              </a:ext>
            </a:extLst>
          </p:cNvPr>
          <p:cNvSpPr/>
          <p:nvPr/>
        </p:nvSpPr>
        <p:spPr>
          <a:xfrm>
            <a:off x="6640205" y="1450915"/>
            <a:ext cx="1769165" cy="847841"/>
          </a:xfrm>
          <a:prstGeom prst="roundRect">
            <a:avLst/>
          </a:prstGeom>
          <a:solidFill>
            <a:srgbClr val="F4F8FC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134077E-8CBA-4588-6C37-97CE9391A35E}"/>
              </a:ext>
            </a:extLst>
          </p:cNvPr>
          <p:cNvSpPr/>
          <p:nvPr/>
        </p:nvSpPr>
        <p:spPr>
          <a:xfrm>
            <a:off x="6711946" y="2674121"/>
            <a:ext cx="1769165" cy="847841"/>
          </a:xfrm>
          <a:prstGeom prst="roundRect">
            <a:avLst/>
          </a:prstGeom>
          <a:solidFill>
            <a:srgbClr val="F4F8FC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B4E9D10-6050-FC4A-8738-7FE3FD1844AC}"/>
              </a:ext>
            </a:extLst>
          </p:cNvPr>
          <p:cNvSpPr/>
          <p:nvPr/>
        </p:nvSpPr>
        <p:spPr>
          <a:xfrm>
            <a:off x="9111503" y="2662196"/>
            <a:ext cx="1769165" cy="847841"/>
          </a:xfrm>
          <a:prstGeom prst="roundRect">
            <a:avLst/>
          </a:prstGeom>
          <a:solidFill>
            <a:srgbClr val="F4F8FC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D4B600C-E91B-8FD4-5111-4DB333A3B320}"/>
              </a:ext>
            </a:extLst>
          </p:cNvPr>
          <p:cNvSpPr/>
          <p:nvPr/>
        </p:nvSpPr>
        <p:spPr>
          <a:xfrm>
            <a:off x="9111503" y="1450914"/>
            <a:ext cx="1769165" cy="847841"/>
          </a:xfrm>
          <a:prstGeom prst="roundRect">
            <a:avLst/>
          </a:prstGeom>
          <a:solidFill>
            <a:srgbClr val="F4F8FC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1158DF-226E-ED04-5061-96A3E4157424}"/>
              </a:ext>
            </a:extLst>
          </p:cNvPr>
          <p:cNvSpPr txBox="1"/>
          <p:nvPr/>
        </p:nvSpPr>
        <p:spPr>
          <a:xfrm>
            <a:off x="6766136" y="1483110"/>
            <a:ext cx="1517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Total Sales</a:t>
            </a:r>
          </a:p>
          <a:p>
            <a:pPr algn="ctr"/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$12.68M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5642A2-0803-B9A6-84A7-B2F422B3F966}"/>
              </a:ext>
            </a:extLst>
          </p:cNvPr>
          <p:cNvSpPr txBox="1"/>
          <p:nvPr/>
        </p:nvSpPr>
        <p:spPr>
          <a:xfrm>
            <a:off x="9154876" y="1490885"/>
            <a:ext cx="1587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Total Profit </a:t>
            </a:r>
          </a:p>
          <a:p>
            <a:pPr algn="ctr"/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$1.47M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8C22B3-AA73-C378-C559-4CDFC953DDA9}"/>
              </a:ext>
            </a:extLst>
          </p:cNvPr>
          <p:cNvSpPr txBox="1"/>
          <p:nvPr/>
        </p:nvSpPr>
        <p:spPr>
          <a:xfrm>
            <a:off x="6766136" y="2744593"/>
            <a:ext cx="1613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Total Orders</a:t>
            </a:r>
          </a:p>
          <a:p>
            <a:pPr algn="ctr"/>
            <a:r>
              <a:rPr lang="en-IN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25,035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47E79F-DB65-0256-B5C3-68B00F2ABCED}"/>
              </a:ext>
            </a:extLst>
          </p:cNvPr>
          <p:cNvSpPr txBox="1"/>
          <p:nvPr/>
        </p:nvSpPr>
        <p:spPr>
          <a:xfrm>
            <a:off x="9202265" y="2698969"/>
            <a:ext cx="1587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Profit Margin</a:t>
            </a:r>
          </a:p>
          <a:p>
            <a:pPr algn="ctr"/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11.61%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4B9635-CDFA-FFF5-6800-9614EA19DAF9}"/>
              </a:ext>
            </a:extLst>
          </p:cNvPr>
          <p:cNvSpPr txBox="1"/>
          <p:nvPr/>
        </p:nvSpPr>
        <p:spPr>
          <a:xfrm>
            <a:off x="314727" y="3826197"/>
            <a:ext cx="922186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SQL Techniques Used </a:t>
            </a:r>
          </a:p>
          <a:p>
            <a:endParaRPr lang="en-IN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SQL was used to calculate KPIs, </a:t>
            </a:r>
            <a:r>
              <a:rPr lang="en-IN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analyze</a:t>
            </a:r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sales performance, and generate business insights for the Power BI dashboard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.</a:t>
            </a:r>
          </a:p>
          <a:p>
            <a:endParaRPr lang="en-IN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SELECT &amp; WHERE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GROUP BY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ORDER BY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AGGREGATE Functions &amp; Date Functions</a:t>
            </a:r>
          </a:p>
        </p:txBody>
      </p:sp>
    </p:spTree>
    <p:extLst>
      <p:ext uri="{BB962C8B-B14F-4D97-AF65-F5344CB8AC3E}">
        <p14:creationId xmlns:p14="http://schemas.microsoft.com/office/powerpoint/2010/main" val="3429608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93ABB9-C575-575F-3FAD-5DBDBC0D09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3435F3-609B-28E1-35DF-2AF926B974D5}"/>
              </a:ext>
            </a:extLst>
          </p:cNvPr>
          <p:cNvSpPr txBox="1"/>
          <p:nvPr/>
        </p:nvSpPr>
        <p:spPr>
          <a:xfrm>
            <a:off x="2532184" y="120580"/>
            <a:ext cx="7345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1 – Sales Performance Overview</a:t>
            </a:r>
            <a:endParaRPr lang="en-IN" sz="24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FFCA27-CEDC-9057-8A5F-E2DA0BD07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47" y="764380"/>
            <a:ext cx="6963325" cy="53261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EDA07F-0222-3F89-66C2-E0104B571A62}"/>
              </a:ext>
            </a:extLst>
          </p:cNvPr>
          <p:cNvSpPr txBox="1"/>
          <p:nvPr/>
        </p:nvSpPr>
        <p:spPr>
          <a:xfrm>
            <a:off x="7295103" y="2051221"/>
            <a:ext cx="245505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📊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KPIs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Total Sales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Total Profit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Total Orders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Customers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Quantity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Profit Margin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Average Order Value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C9C990-E2A8-C5E0-F79D-2CC988470EE1}"/>
              </a:ext>
            </a:extLst>
          </p:cNvPr>
          <p:cNvSpPr txBox="1"/>
          <p:nvPr/>
        </p:nvSpPr>
        <p:spPr>
          <a:xfrm>
            <a:off x="9358365" y="2051221"/>
            <a:ext cx="2535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📈Trend Analysis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Monthly Sales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Monthly Profit Margin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D745D1-F705-2EA9-59CF-17503DFAEE58}"/>
              </a:ext>
            </a:extLst>
          </p:cNvPr>
          <p:cNvSpPr txBox="1"/>
          <p:nvPr/>
        </p:nvSpPr>
        <p:spPr>
          <a:xfrm>
            <a:off x="9358365" y="3036318"/>
            <a:ext cx="2301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📦Category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Sales by Category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9E1259-A89D-A342-D84B-970777CC6B93}"/>
              </a:ext>
            </a:extLst>
          </p:cNvPr>
          <p:cNvSpPr txBox="1"/>
          <p:nvPr/>
        </p:nvSpPr>
        <p:spPr>
          <a:xfrm>
            <a:off x="9509226" y="4208284"/>
            <a:ext cx="1975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🌍 Market Analysis </a:t>
            </a:r>
          </a:p>
          <a:p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Sales by Market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AF7D72-98DC-A15F-84AE-6EFA2390E2C2}"/>
              </a:ext>
            </a:extLst>
          </p:cNvPr>
          <p:cNvSpPr txBox="1"/>
          <p:nvPr/>
        </p:nvSpPr>
        <p:spPr>
          <a:xfrm>
            <a:off x="7328733" y="4243851"/>
            <a:ext cx="218049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🎛</a:t>
            </a:r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Interactive Filters</a:t>
            </a:r>
          </a:p>
          <a:p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Year </a:t>
            </a:r>
          </a:p>
          <a:p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Market </a:t>
            </a:r>
          </a:p>
          <a:p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Category </a:t>
            </a:r>
          </a:p>
          <a:p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Region </a:t>
            </a:r>
          </a:p>
          <a:p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Segment </a:t>
            </a:r>
          </a:p>
          <a:p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Ship Mode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B229B-E4D9-F856-1DAA-4B4AC4DA1D96}"/>
              </a:ext>
            </a:extLst>
          </p:cNvPr>
          <p:cNvSpPr txBox="1"/>
          <p:nvPr/>
        </p:nvSpPr>
        <p:spPr>
          <a:xfrm>
            <a:off x="7295103" y="683288"/>
            <a:ext cx="47729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Purpose</a:t>
            </a:r>
            <a:r>
              <a:rPr lang="en-IN" dirty="0"/>
              <a:t>: </a:t>
            </a:r>
            <a:r>
              <a:rPr lang="en-IN" sz="1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Provides an interactive overview of sales performance, business KPIs, category trends, and market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25741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1EEE15-2914-FBB4-33DA-BC66A7944B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35F816-7B03-B7E5-A0F5-E1EE8A6F7518}"/>
              </a:ext>
            </a:extLst>
          </p:cNvPr>
          <p:cNvSpPr txBox="1"/>
          <p:nvPr/>
        </p:nvSpPr>
        <p:spPr>
          <a:xfrm>
            <a:off x="2532184" y="120580"/>
            <a:ext cx="7345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1 – Key Business Insights</a:t>
            </a:r>
            <a:endParaRPr lang="en-IN" sz="24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E44CB6-11BE-B22F-A0DA-DDF4F6BD9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53" y="1009045"/>
            <a:ext cx="6683374" cy="44974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51F199-04C9-2912-49DF-7613E421F5EC}"/>
              </a:ext>
            </a:extLst>
          </p:cNvPr>
          <p:cNvSpPr txBox="1"/>
          <p:nvPr/>
        </p:nvSpPr>
        <p:spPr>
          <a:xfrm>
            <a:off x="7174523" y="909972"/>
            <a:ext cx="49973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📈 </a:t>
            </a:r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Sales Trend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Sales showed an upward trend throughout the year, with peak performance in Q4.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December recorded the highest monthly sales ($1.58M).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February showed strong profit margin despite lower sales. 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17909C-4CA3-D142-0473-7355BAE555C8}"/>
              </a:ext>
            </a:extLst>
          </p:cNvPr>
          <p:cNvSpPr txBox="1"/>
          <p:nvPr/>
        </p:nvSpPr>
        <p:spPr>
          <a:xfrm>
            <a:off x="7154426" y="2317629"/>
            <a:ext cx="48579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💻 Category Performance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Technology was the top revenue-generating product category.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Furniture ranked second.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Office Supplies contributed the lowest revenue.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EFAEB3-6E61-5D5D-0C33-80566026C261}"/>
              </a:ext>
            </a:extLst>
          </p:cNvPr>
          <p:cNvSpPr txBox="1"/>
          <p:nvPr/>
        </p:nvSpPr>
        <p:spPr>
          <a:xfrm>
            <a:off x="7194620" y="3479065"/>
            <a:ext cx="420021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🌍 Market Performance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APAC was the highest-performing market.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Europe ranked second.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Canada generated the lowest sales.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B19658-6B68-0C0D-BBA1-370FDF593631}"/>
              </a:ext>
            </a:extLst>
          </p:cNvPr>
          <p:cNvSpPr txBox="1"/>
          <p:nvPr/>
        </p:nvSpPr>
        <p:spPr>
          <a:xfrm>
            <a:off x="7194620" y="4501478"/>
            <a:ext cx="36676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dirty="0"/>
              <a:t>📊 </a:t>
            </a:r>
            <a:r>
              <a:rPr lang="en-IN" sz="1400" b="1" dirty="0"/>
              <a:t>Overall Business KPIs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Total Sales: </a:t>
            </a:r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$12.64M</a:t>
            </a: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Total Profit: </a:t>
            </a:r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$1.47M</a:t>
            </a: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Profit Margin: </a:t>
            </a:r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11.61%</a:t>
            </a: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Average Order Value: </a:t>
            </a:r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$505</a:t>
            </a:r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IN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E8CFF6-3ED1-CB31-2BB1-AE4459C6D58B}"/>
              </a:ext>
            </a:extLst>
          </p:cNvPr>
          <p:cNvSpPr txBox="1"/>
          <p:nvPr/>
        </p:nvSpPr>
        <p:spPr>
          <a:xfrm>
            <a:off x="432079" y="5616224"/>
            <a:ext cx="85210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Key Takeaway</a:t>
            </a:r>
          </a:p>
          <a:p>
            <a:pPr algn="just"/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Technology products and the APAC market were the primary revenue drivers. Sales increased consistently throughout the year, with the strongest performance in Q4 while maintaining a healthy 11.61% profit margin</a:t>
            </a:r>
            <a:r>
              <a:rPr lang="en-IN" sz="1400" dirty="0"/>
              <a:t>.</a:t>
            </a:r>
            <a:endParaRPr lang="en-IN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212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265D67-E841-0FE9-2362-D86659694F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1 – Sales Performance Overview</a:t>
            </a:r>
            <a:endParaRPr lang="en-IN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99C9B9-DDF4-1B3D-02FC-4673C9E12DD9}"/>
              </a:ext>
            </a:extLst>
          </p:cNvPr>
          <p:cNvSpPr txBox="1"/>
          <p:nvPr/>
        </p:nvSpPr>
        <p:spPr>
          <a:xfrm>
            <a:off x="2059911" y="70338"/>
            <a:ext cx="9274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2 – Regional &amp; Logistics Performance Overview</a:t>
            </a:r>
            <a:endParaRPr lang="en-IN" sz="24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4BF465-7E47-F7F4-0F5A-20C79D0DD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43" y="793821"/>
            <a:ext cx="6686711" cy="54562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0A6EA8-6E5F-0392-AE06-137E42FFA8B5}"/>
              </a:ext>
            </a:extLst>
          </p:cNvPr>
          <p:cNvSpPr txBox="1"/>
          <p:nvPr/>
        </p:nvSpPr>
        <p:spPr>
          <a:xfrm>
            <a:off x="6963507" y="698374"/>
            <a:ext cx="48968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Purpose </a:t>
            </a:r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: </a:t>
            </a: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Analyse regional sales performance, geographic distribution, shipping efficiency, and customer segments to support operational and logistics decisions.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EB88DA-6D45-771E-C740-25E0AD983597}"/>
              </a:ext>
            </a:extLst>
          </p:cNvPr>
          <p:cNvSpPr txBox="1"/>
          <p:nvPr/>
        </p:nvSpPr>
        <p:spPr>
          <a:xfrm>
            <a:off x="6914939" y="1746457"/>
            <a:ext cx="395905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🌍 Geographic Analysis</a:t>
            </a:r>
          </a:p>
          <a:p>
            <a:pPr algn="just"/>
            <a:endParaRPr lang="en-IN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Sales by Region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Top 10 Countries by Sales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Top 10 Cities by Sales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296326-4E93-920B-7E0D-41D266EF6A61}"/>
              </a:ext>
            </a:extLst>
          </p:cNvPr>
          <p:cNvSpPr txBox="1"/>
          <p:nvPr/>
        </p:nvSpPr>
        <p:spPr>
          <a:xfrm>
            <a:off x="6933360" y="3128636"/>
            <a:ext cx="294416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👥 Customer Segment Analysis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Sales by Customer Segment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7BCC85-487F-E773-97DA-C91EE4CF9310}"/>
              </a:ext>
            </a:extLst>
          </p:cNvPr>
          <p:cNvSpPr txBox="1"/>
          <p:nvPr/>
        </p:nvSpPr>
        <p:spPr>
          <a:xfrm>
            <a:off x="6963507" y="3875149"/>
            <a:ext cx="26427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📊 </a:t>
            </a: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Overall Business KPIs</a:t>
            </a:r>
          </a:p>
          <a:p>
            <a:endParaRPr lang="en-IN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Total Sales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Total Profit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Total Orders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Average Shipping Cost</a:t>
            </a:r>
          </a:p>
          <a:p>
            <a:endParaRPr lang="en-IN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8BA9C3-4154-0045-9C38-DF0C18FE0188}"/>
              </a:ext>
            </a:extLst>
          </p:cNvPr>
          <p:cNvSpPr txBox="1"/>
          <p:nvPr/>
        </p:nvSpPr>
        <p:spPr>
          <a:xfrm>
            <a:off x="9606222" y="1713936"/>
            <a:ext cx="258577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🚚 Shipping Analysis</a:t>
            </a:r>
          </a:p>
          <a:p>
            <a:endParaRPr lang="en-IN" sz="14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Sales by Ship Mode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Shipping Cost by Market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Average Shipping Cost KPI </a:t>
            </a:r>
          </a:p>
          <a:p>
            <a:endParaRPr lang="en-IN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683FC7-9EEC-D9C9-87DC-3E6887BC163C}"/>
              </a:ext>
            </a:extLst>
          </p:cNvPr>
          <p:cNvSpPr txBox="1"/>
          <p:nvPr/>
        </p:nvSpPr>
        <p:spPr>
          <a:xfrm>
            <a:off x="9855757" y="3166826"/>
            <a:ext cx="244174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🎛 Interactive Filters</a:t>
            </a:r>
          </a:p>
          <a:p>
            <a:endParaRPr lang="en-IN" sz="14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Year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Market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Segment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Category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3387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0EC40A-15A0-7442-3B15-64F5BB8AD6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A9BC27-7187-BDEF-C358-9E6D3C814A2C}"/>
              </a:ext>
            </a:extLst>
          </p:cNvPr>
          <p:cNvSpPr txBox="1"/>
          <p:nvPr/>
        </p:nvSpPr>
        <p:spPr>
          <a:xfrm>
            <a:off x="2532184" y="120580"/>
            <a:ext cx="7345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2 – Key Business Insights</a:t>
            </a:r>
            <a:endParaRPr lang="en-IN" sz="24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CFAEB8-9964-F61C-372A-755E1CA23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43" y="793821"/>
            <a:ext cx="6964714" cy="45820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808BD8-B52C-E6F7-67E5-7920F5F96442}"/>
              </a:ext>
            </a:extLst>
          </p:cNvPr>
          <p:cNvSpPr txBox="1"/>
          <p:nvPr/>
        </p:nvSpPr>
        <p:spPr>
          <a:xfrm>
            <a:off x="7678613" y="793821"/>
            <a:ext cx="417844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🌍 Geographic Performance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Central Region generated the highest regional sales.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United States was the highest-performing country.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New York City recorded the highest city-level sales.</a:t>
            </a:r>
          </a:p>
          <a:p>
            <a:endParaRPr lang="en-IN" sz="1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5FD595-4DB6-8CD8-5EA4-9AEB2ACD8EB2}"/>
              </a:ext>
            </a:extLst>
          </p:cNvPr>
          <p:cNvSpPr txBox="1"/>
          <p:nvPr/>
        </p:nvSpPr>
        <p:spPr>
          <a:xfrm>
            <a:off x="7628371" y="1768294"/>
            <a:ext cx="370616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🚚 Shipping </a:t>
            </a:r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Standard Class contributed the highest share of sales.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APAC incurred the highest shipping cost.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Average Shipping Cost was </a:t>
            </a:r>
            <a:r>
              <a:rPr lang="en-IN" sz="1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$26.38</a:t>
            </a: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per order.</a:t>
            </a:r>
          </a:p>
          <a:p>
            <a:endParaRPr lang="en-IN" sz="1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D6B9FA-B519-A86F-E0C6-94E43B7C19ED}"/>
              </a:ext>
            </a:extLst>
          </p:cNvPr>
          <p:cNvSpPr txBox="1"/>
          <p:nvPr/>
        </p:nvSpPr>
        <p:spPr>
          <a:xfrm>
            <a:off x="7661868" y="2956223"/>
            <a:ext cx="330590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👥 Customer Segment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Consumer Segment contributed the highest share of sales.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Corporate Segment ranked second.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Home Office represented the smallest customer segment. 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FADA2D-477D-4F7C-BF10-9DEB7ABB14BB}"/>
              </a:ext>
            </a:extLst>
          </p:cNvPr>
          <p:cNvSpPr txBox="1"/>
          <p:nvPr/>
        </p:nvSpPr>
        <p:spPr>
          <a:xfrm>
            <a:off x="7661868" y="4273493"/>
            <a:ext cx="34063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📈 </a:t>
            </a:r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Overall Business Performance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Total Sales: </a:t>
            </a:r>
            <a:r>
              <a:rPr lang="en-IN" sz="1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$12.64M</a:t>
            </a: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Total Profit: </a:t>
            </a:r>
            <a:r>
              <a:rPr lang="en-IN" sz="1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$1.47M</a:t>
            </a: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Total Orders: </a:t>
            </a:r>
            <a:r>
              <a:rPr lang="en-IN" sz="1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25,035</a:t>
            </a: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Average Shipping Cost: </a:t>
            </a:r>
            <a:r>
              <a:rPr lang="en-IN" sz="1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$26.38</a:t>
            </a:r>
            <a:endParaRPr lang="en-IN" sz="1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03A1D5-D04D-2B70-4A4F-35D61A363A26}"/>
              </a:ext>
            </a:extLst>
          </p:cNvPr>
          <p:cNvSpPr txBox="1"/>
          <p:nvPr/>
        </p:nvSpPr>
        <p:spPr>
          <a:xfrm>
            <a:off x="411981" y="5596932"/>
            <a:ext cx="91038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Key Takeaway </a:t>
            </a:r>
          </a:p>
          <a:p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The </a:t>
            </a:r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United States</a:t>
            </a: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and </a:t>
            </a:r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Central Region</a:t>
            </a: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were the strongest revenue contributors. </a:t>
            </a:r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Standard Class</a:t>
            </a: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handled the majority of sales, while the </a:t>
            </a:r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Consumer Segment</a:t>
            </a: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generated the highest share of sales, highlighting key markets and customer groups for business growth.</a:t>
            </a:r>
          </a:p>
        </p:txBody>
      </p:sp>
    </p:spTree>
    <p:extLst>
      <p:ext uri="{BB962C8B-B14F-4D97-AF65-F5344CB8AC3E}">
        <p14:creationId xmlns:p14="http://schemas.microsoft.com/office/powerpoint/2010/main" val="2885001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02DA85-2BB9-B505-2FB6-0198F02065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55B3-2D0F-AB72-7173-47BEA753BABF}"/>
              </a:ext>
            </a:extLst>
          </p:cNvPr>
          <p:cNvSpPr txBox="1"/>
          <p:nvPr/>
        </p:nvSpPr>
        <p:spPr>
          <a:xfrm>
            <a:off x="2753248" y="100763"/>
            <a:ext cx="6672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Project Conclusion &amp;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0CD83C-95D6-6885-23E2-C1063B9B3AA7}"/>
              </a:ext>
            </a:extLst>
          </p:cNvPr>
          <p:cNvSpPr txBox="1"/>
          <p:nvPr/>
        </p:nvSpPr>
        <p:spPr>
          <a:xfrm>
            <a:off x="160774" y="753347"/>
            <a:ext cx="628022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📌 Project Summary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Analyzed</a:t>
            </a: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the </a:t>
            </a:r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Global Superstore</a:t>
            </a: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sales dataset using </a:t>
            </a:r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SQL</a:t>
            </a: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and </a:t>
            </a:r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Power BI</a:t>
            </a: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Cleaned and transformed the data to ensure accurate analysis and reporting.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Built </a:t>
            </a:r>
            <a:r>
              <a:rPr lang="en-IN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two interactive dashboards</a:t>
            </a: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to monitor sales performance, regional trends, customer segments, and shipping metrics.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Generated business insights using KPIs and visualizations to support data-driven decision-making. 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19805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910</Words>
  <Application>Microsoft Office PowerPoint</Application>
  <PresentationFormat>Widescreen</PresentationFormat>
  <Paragraphs>197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Suriya R</dc:creator>
  <cp:lastModifiedBy>Suriya R</cp:lastModifiedBy>
  <cp:revision>17</cp:revision>
  <dcterms:created xsi:type="dcterms:W3CDTF">2026-07-30T15:29:55Z</dcterms:created>
  <dcterms:modified xsi:type="dcterms:W3CDTF">2026-08-01T08:21:59Z</dcterms:modified>
</cp:coreProperties>
</file>